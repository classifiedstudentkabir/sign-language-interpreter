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Garamond"/>
      <p:regular r:id="rId12"/>
      <p:bold r:id="rId13"/>
      <p:italic r:id="rId14"/>
      <p:boldItalic r:id="rId15"/>
    </p:embeddedFont>
    <p:embeddedFont>
      <p:font typeface="Oswa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aramond-bold.fntdata"/><Relationship Id="rId12" Type="http://schemas.openxmlformats.org/officeDocument/2006/relationships/font" Target="fonts/Garamon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aramond-boldItalic.fntdata"/><Relationship Id="rId14" Type="http://schemas.openxmlformats.org/officeDocument/2006/relationships/font" Target="fonts/Garamond-italic.fntdata"/><Relationship Id="rId17" Type="http://schemas.openxmlformats.org/officeDocument/2006/relationships/font" Target="fonts/Oswald-bold.fntdata"/><Relationship Id="rId16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hyperlink" Target="https://wfdeaf.org/unesco-1880/" TargetMode="External"/><Relationship Id="rId10" Type="http://schemas.openxmlformats.org/officeDocument/2006/relationships/hyperlink" Target="https://islrtc.nic.in/" TargetMode="External"/><Relationship Id="rId13" Type="http://schemas.openxmlformats.org/officeDocument/2006/relationships/hyperlink" Target="https://developer.mozilla.org/en-US/docs/Web/API/Web_Speech_API" TargetMode="External"/><Relationship Id="rId12" Type="http://schemas.openxmlformats.org/officeDocument/2006/relationships/hyperlink" Target="https://developers.google.com/mediapipe/solutions/vision/hand_landmarker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hyperlink" Target="https://www.who.int/news-room/fact-sheets/detail/deafness-and-hearing-loss" TargetMode="External"/><Relationship Id="rId9" Type="http://schemas.openxmlformats.org/officeDocument/2006/relationships/hyperlink" Target="https://www.education.gov.in/nep" TargetMode="External"/><Relationship Id="rId15" Type="http://schemas.openxmlformats.org/officeDocument/2006/relationships/hyperlink" Target="https://teachablemachine.withgoogle.com/" TargetMode="External"/><Relationship Id="rId14" Type="http://schemas.openxmlformats.org/officeDocument/2006/relationships/hyperlink" Target="https://developer.mozilla.org/en-US/docs/Web/API/Web_Speech_API" TargetMode="External"/><Relationship Id="rId16" Type="http://schemas.openxmlformats.org/officeDocument/2006/relationships/image" Target="../media/image4.png"/><Relationship Id="rId5" Type="http://schemas.openxmlformats.org/officeDocument/2006/relationships/hyperlink" Target="https://www.who.int/news-room/fact-sheets/detail/deafness-and-hearing-loss" TargetMode="External"/><Relationship Id="rId6" Type="http://schemas.openxmlformats.org/officeDocument/2006/relationships/hyperlink" Target="https://www.who.int/news-room/fact-sheets/detail/deafness-and-hearing-loss" TargetMode="External"/><Relationship Id="rId7" Type="http://schemas.openxmlformats.org/officeDocument/2006/relationships/hyperlink" Target="https://www.who.int/news-room/fact-sheets/detail/deafness-and-hearing-loss" TargetMode="External"/><Relationship Id="rId8" Type="http://schemas.openxmlformats.org/officeDocument/2006/relationships/hyperlink" Target="https://islrtc.nic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>
            <p:ph idx="1" type="subTitle"/>
          </p:nvPr>
        </p:nvSpPr>
        <p:spPr>
          <a:xfrm>
            <a:off x="1245686" y="1717288"/>
            <a:ext cx="8534400" cy="6839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3"/>
          <p:cNvSpPr txBox="1"/>
          <p:nvPr>
            <p:ph type="ctrTitle"/>
          </p:nvPr>
        </p:nvSpPr>
        <p:spPr>
          <a:xfrm>
            <a:off x="475180" y="1484089"/>
            <a:ext cx="10363200" cy="795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HACKNOVA 2025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805850" y="2830800"/>
            <a:ext cx="10363200" cy="40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</a:t>
            </a:r>
            <a:r>
              <a:rPr b="1" lang="en-US" sz="2400">
                <a:solidFill>
                  <a:schemeClr val="dk1"/>
                </a:solidFill>
              </a:rPr>
              <a:t>: </a:t>
            </a:r>
            <a:r>
              <a:rPr b="1" lang="en-US" sz="1981">
                <a:solidFill>
                  <a:schemeClr val="dk1"/>
                </a:solidFill>
              </a:rPr>
              <a:t>Assistive Technology and Inclusive Education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b="1" lang="en-US" sz="2400">
                <a:solidFill>
                  <a:schemeClr val="dk1"/>
                </a:solidFill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Statement</a:t>
            </a:r>
            <a:r>
              <a:rPr b="1" lang="en-US" sz="2400">
                <a:solidFill>
                  <a:schemeClr val="dk1"/>
                </a:solidFill>
              </a:rPr>
              <a:t> 	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r>
              <a:rPr b="1" lang="en-US" sz="2400">
                <a:solidFill>
                  <a:schemeClr val="dk1"/>
                </a:solidFill>
              </a:rPr>
              <a:t>: </a:t>
            </a:r>
            <a:r>
              <a:rPr b="1" lang="en-US" sz="1981">
                <a:solidFill>
                  <a:schemeClr val="dk1"/>
                </a:solidFill>
              </a:rPr>
              <a:t>Empowering Differently Abled Students Through Smart Assistive Technologies</a:t>
            </a:r>
            <a:endParaRPr b="1" sz="1981">
              <a:solidFill>
                <a:schemeClr val="dk1"/>
              </a:solidFill>
            </a:endParaRPr>
          </a:p>
          <a:p>
            <a:pPr indent="-285750" lvl="0" marL="28575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 Title</a:t>
            </a:r>
            <a:r>
              <a:rPr b="1" lang="en-US" sz="2400">
                <a:solidFill>
                  <a:schemeClr val="dk1"/>
                </a:solidFill>
              </a:rPr>
              <a:t>: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</a:t>
            </a:r>
            <a:r>
              <a:rPr b="1" lang="en-US" sz="2400">
                <a:solidFill>
                  <a:schemeClr val="dk1"/>
                </a:solidFill>
              </a:rPr>
              <a:t>L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ens EDU</a:t>
            </a:r>
            <a:endParaRPr/>
          </a:p>
          <a:p>
            <a:pPr indent="-285750" lvl="0" marL="28575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</a:t>
            </a:r>
            <a:r>
              <a:rPr b="1" lang="en-US" sz="2400">
                <a:solidFill>
                  <a:schemeClr val="dk1"/>
                </a:solidFill>
              </a:rPr>
              <a:t>: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Received on email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</a:t>
            </a:r>
            <a:r>
              <a:rPr b="1" lang="en-US" sz="2400">
                <a:solidFill>
                  <a:schemeClr val="dk1"/>
                </a:solidFill>
              </a:rPr>
              <a:t>: Silent Coders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1758" y="49635"/>
            <a:ext cx="10006966" cy="1546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SignLens EDU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0" y="1779773"/>
            <a:ext cx="12192000" cy="1031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 u="sng">
              <a:solidFill>
                <a:schemeClr val="dk2"/>
              </a:solidFill>
              <a:highlight>
                <a:srgbClr val="F4CCCC"/>
              </a:highlight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02" name="Google Shape;102;p14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538" y="168387"/>
            <a:ext cx="1390070" cy="139419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/>
          <p:nvPr/>
        </p:nvSpPr>
        <p:spPr>
          <a:xfrm>
            <a:off x="430575" y="2455200"/>
            <a:ext cx="11287200" cy="356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537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➢"/>
            </a:pPr>
            <a:r>
              <a:rPr b="1" lang="en-US" sz="2000">
                <a:solidFill>
                  <a:schemeClr val="dk1"/>
                </a:solidFill>
              </a:rPr>
              <a:t>AI-powered Interpreter:</a:t>
            </a:r>
            <a:r>
              <a:rPr lang="en-US" sz="2000">
                <a:solidFill>
                  <a:schemeClr val="dk1"/>
                </a:solidFill>
              </a:rPr>
              <a:t> Harnesses advanced AI for accurate,real-time sign language translation.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➢"/>
            </a:pPr>
            <a:r>
              <a:rPr b="1" lang="en-US" sz="2000">
                <a:solidFill>
                  <a:schemeClr val="dk1"/>
                </a:solidFill>
              </a:rPr>
              <a:t>Real-time Translation: </a:t>
            </a:r>
            <a:r>
              <a:rPr lang="en-US" sz="2000">
                <a:solidFill>
                  <a:schemeClr val="dk1"/>
                </a:solidFill>
              </a:rPr>
              <a:t>Converts sign Language to text and speech instantly,and vice versa.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➢"/>
            </a:pPr>
            <a:r>
              <a:rPr b="1" lang="en-US" sz="2000">
                <a:solidFill>
                  <a:schemeClr val="dk1"/>
                </a:solidFill>
              </a:rPr>
              <a:t>Browser-based :</a:t>
            </a:r>
            <a:r>
              <a:rPr lang="en-US" sz="2000">
                <a:solidFill>
                  <a:schemeClr val="dk1"/>
                </a:solidFill>
              </a:rPr>
              <a:t> Accessible on most devices,requiring minimal setup.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➢"/>
            </a:pPr>
            <a:r>
              <a:rPr b="1" lang="en-US" sz="2000">
                <a:solidFill>
                  <a:schemeClr val="dk1"/>
                </a:solidFill>
              </a:rPr>
              <a:t>Personalized Learning: </a:t>
            </a:r>
            <a:r>
              <a:rPr lang="en-US" sz="2000">
                <a:solidFill>
                  <a:schemeClr val="dk1"/>
                </a:solidFill>
              </a:rPr>
              <a:t>Supports individual student needs,enhancing engagement.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➢"/>
            </a:pPr>
            <a:r>
              <a:rPr b="1" lang="en-US" sz="2000">
                <a:solidFill>
                  <a:schemeClr val="dk1"/>
                </a:solidFill>
              </a:rPr>
              <a:t>Seamless	Teacher Integration: </a:t>
            </a:r>
            <a:r>
              <a:rPr lang="en-US" sz="2000">
                <a:solidFill>
                  <a:schemeClr val="dk1"/>
                </a:solidFill>
              </a:rPr>
              <a:t>Intuitive design that allows educators to use the tool effortlessly during classroom teaching.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582850" y="1395450"/>
            <a:ext cx="8380500" cy="8073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900" u="sng">
                <a:solidFill>
                  <a:schemeClr val="dk1"/>
                </a:solidFill>
                <a:highlight>
                  <a:srgbClr val="EA9999"/>
                </a:highlight>
              </a:rPr>
              <a:t>List of Feature Offered by the Solution</a:t>
            </a:r>
            <a:endParaRPr b="1" sz="2900" u="sng">
              <a:solidFill>
                <a:schemeClr val="dk1"/>
              </a:solidFill>
              <a:highlight>
                <a:srgbClr val="EA9999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06" name="Google Shape;106;p14" title="ChatGPT Image Nov 30, 2025, 02_04_45 PM.png"/>
          <p:cNvPicPr preferRelativeResize="0"/>
          <p:nvPr/>
        </p:nvPicPr>
        <p:blipFill rotWithShape="1">
          <a:blip r:embed="rId4">
            <a:alphaModFix/>
          </a:blip>
          <a:srcRect b="13303" l="14916" r="13746" t="12949"/>
          <a:stretch/>
        </p:blipFill>
        <p:spPr>
          <a:xfrm>
            <a:off x="350425" y="111600"/>
            <a:ext cx="1174500" cy="1213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sng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u="sng"/>
          </a:p>
        </p:txBody>
      </p:sp>
      <p:sp>
        <p:nvSpPr>
          <p:cNvPr id="114" name="Google Shape;114;p15"/>
          <p:cNvSpPr txBox="1"/>
          <p:nvPr/>
        </p:nvSpPr>
        <p:spPr>
          <a:xfrm>
            <a:off x="-265150" y="2416225"/>
            <a:ext cx="55992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• MediaPipe (Hand Tracking)</a:t>
            </a:r>
            <a:endParaRPr b="1" sz="22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•TensorFlow (Gesture Classification)</a:t>
            </a:r>
            <a:endParaRPr b="1" sz="22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• HTML, CSS, JavaScript (Frontend)</a:t>
            </a:r>
            <a:endParaRPr b="1" sz="22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• Web Speech API (TTS + STT)</a:t>
            </a:r>
            <a:endParaRPr b="1" sz="22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• Python Flask (Backend)</a:t>
            </a:r>
            <a:endParaRPr b="1" sz="2200">
              <a:solidFill>
                <a:schemeClr val="dk1"/>
              </a:solidFill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• Firebase / MySQL (Data Storage)</a:t>
            </a:r>
            <a:endParaRPr sz="1800"/>
          </a:p>
        </p:txBody>
      </p:sp>
      <p:sp>
        <p:nvSpPr>
          <p:cNvPr id="115" name="Google Shape;115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2157" y="168387"/>
            <a:ext cx="1390070" cy="139419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/>
          <p:nvPr/>
        </p:nvSpPr>
        <p:spPr>
          <a:xfrm>
            <a:off x="7020425" y="2640625"/>
            <a:ext cx="2029800" cy="8265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Oswald"/>
                <a:ea typeface="Oswald"/>
                <a:cs typeface="Oswald"/>
                <a:sym typeface="Oswald"/>
              </a:rPr>
              <a:t> Sign</a:t>
            </a:r>
            <a:endParaRPr b="1" sz="29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9119325" y="2871325"/>
            <a:ext cx="833400" cy="36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10021825" y="2709775"/>
            <a:ext cx="2029800" cy="8265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Oswald"/>
                <a:ea typeface="Oswald"/>
                <a:cs typeface="Oswald"/>
                <a:sym typeface="Oswald"/>
              </a:rPr>
              <a:t>Camera</a:t>
            </a:r>
            <a:endParaRPr b="1" sz="29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10819225" y="3536275"/>
            <a:ext cx="435000" cy="697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10268275" y="4267300"/>
            <a:ext cx="1536900" cy="8265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Oswald"/>
                <a:ea typeface="Oswald"/>
                <a:cs typeface="Oswald"/>
                <a:sym typeface="Oswald"/>
              </a:rPr>
              <a:t>AI Model</a:t>
            </a:r>
            <a:endParaRPr b="1" sz="29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9434875" y="4531575"/>
            <a:ext cx="833400" cy="3651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7981138" y="4225000"/>
            <a:ext cx="1390200" cy="9111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Oswald"/>
                <a:ea typeface="Oswald"/>
                <a:cs typeface="Oswald"/>
                <a:sym typeface="Oswald"/>
              </a:rPr>
              <a:t>Text Spe</a:t>
            </a:r>
            <a:r>
              <a:rPr b="1" lang="en-US" sz="2900">
                <a:latin typeface="Oswald"/>
                <a:ea typeface="Oswald"/>
                <a:cs typeface="Oswald"/>
                <a:sym typeface="Oswald"/>
              </a:rPr>
              <a:t>ech</a:t>
            </a:r>
            <a:endParaRPr b="1" sz="29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7084225" y="4497975"/>
            <a:ext cx="833400" cy="3651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5433300" y="4225000"/>
            <a:ext cx="1650900" cy="9111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Oswald"/>
                <a:ea typeface="Oswald"/>
                <a:cs typeface="Oswald"/>
                <a:sym typeface="Oswald"/>
              </a:rPr>
              <a:t>Display</a:t>
            </a:r>
            <a:endParaRPr b="1" sz="29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329775" y="1553388"/>
            <a:ext cx="3978000" cy="6201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  <a:highlight>
                  <a:srgbClr val="6FA8DC"/>
                </a:highlight>
              </a:rPr>
              <a:t>🔹 Technologies Used</a:t>
            </a:r>
            <a:endParaRPr b="1" sz="2500">
              <a:solidFill>
                <a:schemeClr val="dk1"/>
              </a:solidFill>
              <a:highlight>
                <a:srgbClr val="6FA8DC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27" name="Google Shape;127;p15" title="ChatGPT Image Nov 30, 2025, 02_04_45 PM.png"/>
          <p:cNvPicPr preferRelativeResize="0"/>
          <p:nvPr/>
        </p:nvPicPr>
        <p:blipFill rotWithShape="1">
          <a:blip r:embed="rId4">
            <a:alphaModFix/>
          </a:blip>
          <a:srcRect b="13303" l="14916" r="13746" t="12949"/>
          <a:stretch/>
        </p:blipFill>
        <p:spPr>
          <a:xfrm>
            <a:off x="350425" y="111600"/>
            <a:ext cx="1174500" cy="1213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28" name="Google Shape;128;p15"/>
          <p:cNvSpPr/>
          <p:nvPr/>
        </p:nvSpPr>
        <p:spPr>
          <a:xfrm>
            <a:off x="7020400" y="1513700"/>
            <a:ext cx="3451800" cy="6201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  <a:highlight>
                  <a:srgbClr val="6FA8DC"/>
                </a:highlight>
              </a:rPr>
              <a:t>🔹Methodology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sng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u="sng"/>
          </a:p>
        </p:txBody>
      </p:sp>
      <p:sp>
        <p:nvSpPr>
          <p:cNvPr id="136" name="Google Shape;136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5961" y="252246"/>
            <a:ext cx="1390070" cy="139419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249900" y="3709315"/>
            <a:ext cx="11338200" cy="10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900"/>
              <a:buAutoNum type="arabicPeriod"/>
            </a:pPr>
            <a:r>
              <a:rPr lang="en-US" sz="1900"/>
              <a:t>Variations in Signing Styles: Different speeds, hand shapes, and individual signing differences.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-US" sz="1900"/>
              <a:t>Lighting/Camera Issues: Poor lighting or incorrect </a:t>
            </a:r>
            <a:r>
              <a:rPr lang="en-US" sz="1900"/>
              <a:t>angles may reduce accuracy.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-US" sz="1900"/>
              <a:t>Limited ISL Datasets: Few large-scale Indian Sign Language datasets available</a:t>
            </a:r>
            <a:endParaRPr sz="1800"/>
          </a:p>
        </p:txBody>
      </p:sp>
      <p:sp>
        <p:nvSpPr>
          <p:cNvPr id="139" name="Google Shape;139;p16"/>
          <p:cNvSpPr txBox="1"/>
          <p:nvPr/>
        </p:nvSpPr>
        <p:spPr>
          <a:xfrm>
            <a:off x="249900" y="1785675"/>
            <a:ext cx="11338200" cy="13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AutoNum type="arabicPeriod"/>
            </a:pPr>
            <a:r>
              <a:rPr lang="en-US" sz="1900"/>
              <a:t>Scalable Design: Can easily expand to more signs, mobile app, offline mode &amp;  school integration.</a:t>
            </a:r>
            <a:endParaRPr sz="1900"/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-US" sz="1900"/>
              <a:t>Low Resource Requirements: Works with a normal webcam and browser — no special hardware.</a:t>
            </a:r>
            <a:endParaRPr sz="1900"/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-US" sz="1900"/>
              <a:t>Uses Proven Technologies: Built using reliable tools like MediaPipe, TensorFlow, Flask, and Web Speech API.</a:t>
            </a:r>
            <a:endParaRPr sz="1900"/>
          </a:p>
        </p:txBody>
      </p:sp>
      <p:sp>
        <p:nvSpPr>
          <p:cNvPr id="140" name="Google Shape;140;p16"/>
          <p:cNvSpPr txBox="1"/>
          <p:nvPr/>
        </p:nvSpPr>
        <p:spPr>
          <a:xfrm>
            <a:off x="275643" y="5289648"/>
            <a:ext cx="11338200" cy="969600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We will overcome these challenges by training on diverse signer data with augmentation, adding on-screen guidance for lighting and camera setup, and expanding ISL datasets through custom sample collection and crowd-sourced data.</a:t>
            </a:r>
            <a:endParaRPr sz="1900"/>
          </a:p>
        </p:txBody>
      </p:sp>
      <p:sp>
        <p:nvSpPr>
          <p:cNvPr id="141" name="Google Shape;141;p16"/>
          <p:cNvSpPr/>
          <p:nvPr/>
        </p:nvSpPr>
        <p:spPr>
          <a:xfrm>
            <a:off x="2568250" y="4770750"/>
            <a:ext cx="6753000" cy="50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highlight>
                  <a:srgbClr val="6FA8DC"/>
                </a:highlight>
              </a:rPr>
              <a:t>🔹 </a:t>
            </a:r>
            <a:r>
              <a:rPr b="1" lang="en-US" sz="2300">
                <a:solidFill>
                  <a:schemeClr val="dk1"/>
                </a:solidFill>
                <a:highlight>
                  <a:srgbClr val="6FA8DC"/>
                </a:highlight>
              </a:rPr>
              <a:t>Strategies for overcoming these challenges</a:t>
            </a:r>
            <a:endParaRPr b="1" sz="2300">
              <a:solidFill>
                <a:schemeClr val="dk1"/>
              </a:solidFill>
              <a:highlight>
                <a:srgbClr val="6FA8D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300">
              <a:solidFill>
                <a:schemeClr val="dk1"/>
              </a:solidFill>
              <a:highlight>
                <a:srgbClr val="6FA8DC"/>
              </a:highlight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282150" y="3247300"/>
            <a:ext cx="4051500" cy="5034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❏"/>
            </a:pPr>
            <a:r>
              <a:rPr b="1" lang="en-US" sz="2300">
                <a:solidFill>
                  <a:schemeClr val="dk1"/>
                </a:solidFill>
              </a:rPr>
              <a:t> </a:t>
            </a:r>
            <a:r>
              <a:rPr b="1" lang="en-US" sz="2300">
                <a:solidFill>
                  <a:schemeClr val="dk1"/>
                </a:solidFill>
              </a:rPr>
              <a:t>CHALLENGES &amp; RISKS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329775" y="1217800"/>
            <a:ext cx="4763400" cy="6024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❏"/>
            </a:pPr>
            <a:r>
              <a:rPr b="1" lang="en-US" sz="2300">
                <a:solidFill>
                  <a:schemeClr val="dk1"/>
                </a:solidFill>
              </a:rPr>
              <a:t> FEASIBILITY AND VIABILITY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</p:txBody>
      </p:sp>
      <p:pic>
        <p:nvPicPr>
          <p:cNvPr id="144" name="Google Shape;144;p16" title="ChatGPT Image Nov 30, 2025, 02_04_45 PM.png"/>
          <p:cNvPicPr preferRelativeResize="0"/>
          <p:nvPr/>
        </p:nvPicPr>
        <p:blipFill rotWithShape="1">
          <a:blip r:embed="rId4">
            <a:alphaModFix/>
          </a:blip>
          <a:srcRect b="13303" l="14916" r="13746" t="12949"/>
          <a:stretch/>
        </p:blipFill>
        <p:spPr>
          <a:xfrm>
            <a:off x="350425" y="42327"/>
            <a:ext cx="1106400" cy="1143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/>
          <p:nvPr/>
        </p:nvSpPr>
        <p:spPr>
          <a:xfrm>
            <a:off x="8408550" y="2714675"/>
            <a:ext cx="3603300" cy="3497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Oswald"/>
              <a:buChar char="➔"/>
            </a:pPr>
            <a:r>
              <a:rPr lang="en-US" sz="2000">
                <a:latin typeface="Oswald"/>
                <a:ea typeface="Oswald"/>
                <a:cs typeface="Oswald"/>
                <a:sym typeface="Oswald"/>
              </a:rPr>
              <a:t>Uses </a:t>
            </a:r>
            <a:r>
              <a:rPr b="1" lang="en-US" sz="2000">
                <a:latin typeface="Oswald"/>
                <a:ea typeface="Oswald"/>
                <a:cs typeface="Oswald"/>
                <a:sym typeface="Oswald"/>
              </a:rPr>
              <a:t>open-source AI tools </a:t>
            </a:r>
            <a:endParaRPr b="1" sz="2000">
              <a:latin typeface="Oswald"/>
              <a:ea typeface="Oswald"/>
              <a:cs typeface="Oswald"/>
              <a:sym typeface="Oswald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swald"/>
              <a:buChar char="➔"/>
            </a:pPr>
            <a:r>
              <a:rPr b="1" lang="en-US" sz="2000">
                <a:latin typeface="Oswald"/>
                <a:ea typeface="Oswald"/>
                <a:cs typeface="Oswald"/>
                <a:sym typeface="Oswald"/>
              </a:rPr>
              <a:t>Browser-based</a:t>
            </a:r>
            <a:r>
              <a:rPr lang="en-US" sz="2000">
                <a:latin typeface="Oswald"/>
                <a:ea typeface="Oswald"/>
                <a:cs typeface="Oswald"/>
                <a:sym typeface="Oswald"/>
              </a:rPr>
              <a:t>, easy to scale and upgrade</a:t>
            </a:r>
            <a:endParaRPr sz="2000">
              <a:latin typeface="Oswald"/>
              <a:ea typeface="Oswald"/>
              <a:cs typeface="Oswald"/>
              <a:sym typeface="Oswald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swald"/>
              <a:buChar char="➔"/>
            </a:pPr>
            <a:r>
              <a:rPr lang="en-US" sz="2000">
                <a:latin typeface="Oswald"/>
                <a:ea typeface="Oswald"/>
                <a:cs typeface="Oswald"/>
                <a:sym typeface="Oswald"/>
              </a:rPr>
              <a:t>Supports future expansion (</a:t>
            </a:r>
            <a:r>
              <a:rPr b="1" lang="en-US" sz="2000">
                <a:latin typeface="Oswald"/>
                <a:ea typeface="Oswald"/>
                <a:cs typeface="Oswald"/>
                <a:sym typeface="Oswald"/>
              </a:rPr>
              <a:t>mobile app, offline mode</a:t>
            </a:r>
            <a:r>
              <a:rPr lang="en-US" sz="2000">
                <a:latin typeface="Oswald"/>
                <a:ea typeface="Oswald"/>
                <a:cs typeface="Oswald"/>
                <a:sym typeface="Oswald"/>
              </a:rPr>
              <a:t>)</a:t>
            </a:r>
            <a:endParaRPr sz="20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sng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 u="sng"/>
          </a:p>
        </p:txBody>
      </p:sp>
      <p:sp>
        <p:nvSpPr>
          <p:cNvPr id="153" name="Google Shape;153;p17"/>
          <p:cNvSpPr txBox="1"/>
          <p:nvPr>
            <p:ph idx="12" type="sldNum"/>
          </p:nvPr>
        </p:nvSpPr>
        <p:spPr>
          <a:xfrm>
            <a:off x="8737600" y="6356350"/>
            <a:ext cx="30714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0136" y="168387"/>
            <a:ext cx="1390070" cy="139419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/>
          <p:nvPr/>
        </p:nvSpPr>
        <p:spPr>
          <a:xfrm>
            <a:off x="111830" y="2714675"/>
            <a:ext cx="4029375" cy="3497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Oswald"/>
              <a:buChar char="➔"/>
            </a:pPr>
            <a:r>
              <a:rPr lang="en-US" sz="2000">
                <a:latin typeface="Oswald"/>
                <a:ea typeface="Oswald"/>
                <a:cs typeface="Oswald"/>
                <a:sym typeface="Oswald"/>
              </a:rPr>
              <a:t>Deaf students actively </a:t>
            </a:r>
            <a:r>
              <a:rPr b="1" lang="en-US" sz="2000">
                <a:latin typeface="Oswald"/>
                <a:ea typeface="Oswald"/>
                <a:cs typeface="Oswald"/>
                <a:sym typeface="Oswald"/>
              </a:rPr>
              <a:t>participate</a:t>
            </a:r>
            <a:r>
              <a:rPr b="1" lang="en-US" sz="2000">
                <a:latin typeface="Oswald"/>
                <a:ea typeface="Oswald"/>
                <a:cs typeface="Oswald"/>
                <a:sym typeface="Oswald"/>
              </a:rPr>
              <a:t> in   </a:t>
            </a:r>
            <a:r>
              <a:rPr b="1" lang="en-US" sz="2000">
                <a:latin typeface="Oswald"/>
                <a:ea typeface="Oswald"/>
                <a:cs typeface="Oswald"/>
                <a:sym typeface="Oswald"/>
              </a:rPr>
              <a:t>classrooms</a:t>
            </a:r>
            <a:endParaRPr b="1" sz="20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swald"/>
              <a:ea typeface="Oswald"/>
              <a:cs typeface="Oswald"/>
              <a:sym typeface="Oswal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Oswald"/>
              <a:buChar char="➔"/>
            </a:pPr>
            <a:r>
              <a:rPr lang="en-US" sz="2000">
                <a:latin typeface="Oswald"/>
                <a:ea typeface="Oswald"/>
                <a:cs typeface="Oswald"/>
                <a:sym typeface="Oswald"/>
              </a:rPr>
              <a:t>Improved teacher–student </a:t>
            </a:r>
            <a:r>
              <a:rPr b="1" lang="en-US" sz="2000">
                <a:latin typeface="Oswald"/>
                <a:ea typeface="Oswald"/>
                <a:cs typeface="Oswald"/>
                <a:sym typeface="Oswald"/>
              </a:rPr>
              <a:t>communication</a:t>
            </a:r>
            <a:endParaRPr b="1" sz="20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swald"/>
              <a:ea typeface="Oswald"/>
              <a:cs typeface="Oswald"/>
              <a:sym typeface="Oswal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Oswald"/>
              <a:buChar char="➔"/>
            </a:pPr>
            <a:r>
              <a:rPr lang="en-US" sz="2000">
                <a:latin typeface="Oswald"/>
                <a:ea typeface="Oswald"/>
                <a:cs typeface="Oswald"/>
                <a:sym typeface="Oswald"/>
              </a:rPr>
              <a:t>Builds </a:t>
            </a:r>
            <a:r>
              <a:rPr b="1" lang="en-US" sz="2000">
                <a:latin typeface="Oswald"/>
                <a:ea typeface="Oswald"/>
                <a:cs typeface="Oswald"/>
                <a:sym typeface="Oswald"/>
              </a:rPr>
              <a:t>confidence</a:t>
            </a:r>
            <a:r>
              <a:rPr lang="en-US" sz="2000">
                <a:latin typeface="Oswald"/>
                <a:ea typeface="Oswald"/>
                <a:cs typeface="Oswald"/>
                <a:sym typeface="Oswald"/>
              </a:rPr>
              <a:t> &amp; </a:t>
            </a:r>
            <a:r>
              <a:rPr b="1" lang="en-US" sz="2000">
                <a:latin typeface="Oswald"/>
                <a:ea typeface="Oswald"/>
                <a:cs typeface="Oswald"/>
                <a:sym typeface="Oswald"/>
              </a:rPr>
              <a:t>reduces</a:t>
            </a:r>
            <a:r>
              <a:rPr lang="en-US" sz="2000">
                <a:latin typeface="Oswald"/>
                <a:ea typeface="Oswald"/>
                <a:cs typeface="Oswald"/>
                <a:sym typeface="Oswald"/>
              </a:rPr>
              <a:t> social isolation</a:t>
            </a:r>
            <a:endParaRPr sz="20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4231375" y="2714675"/>
            <a:ext cx="4029375" cy="3497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swald"/>
              <a:buChar char="➔"/>
            </a:pPr>
            <a:r>
              <a:rPr lang="en-US" sz="2000">
                <a:latin typeface="Oswald"/>
                <a:ea typeface="Oswald"/>
                <a:cs typeface="Oswald"/>
                <a:sym typeface="Oswald"/>
              </a:rPr>
              <a:t>Promotes inclusion and </a:t>
            </a:r>
            <a:r>
              <a:rPr b="1" lang="en-US" sz="2000">
                <a:latin typeface="Oswald"/>
                <a:ea typeface="Oswald"/>
                <a:cs typeface="Oswald"/>
                <a:sym typeface="Oswald"/>
              </a:rPr>
              <a:t>equal communication</a:t>
            </a:r>
            <a:endParaRPr b="1" sz="20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Oswald"/>
              <a:ea typeface="Oswald"/>
              <a:cs typeface="Oswald"/>
              <a:sym typeface="Oswald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swald"/>
              <a:buChar char="➔"/>
            </a:pPr>
            <a:r>
              <a:rPr lang="en-US" sz="2000">
                <a:latin typeface="Oswald"/>
                <a:ea typeface="Oswald"/>
                <a:cs typeface="Oswald"/>
                <a:sym typeface="Oswald"/>
              </a:rPr>
              <a:t>Reduces </a:t>
            </a:r>
            <a:r>
              <a:rPr b="1" lang="en-US" sz="2000">
                <a:latin typeface="Oswald"/>
                <a:ea typeface="Oswald"/>
                <a:cs typeface="Oswald"/>
                <a:sym typeface="Oswald"/>
              </a:rPr>
              <a:t>dependency on interpreters</a:t>
            </a:r>
            <a:endParaRPr b="1" sz="20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Oswald"/>
              <a:ea typeface="Oswald"/>
              <a:cs typeface="Oswald"/>
              <a:sym typeface="Oswal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Oswald"/>
              <a:buChar char="➔"/>
            </a:pPr>
            <a:r>
              <a:rPr lang="en-US" sz="2000">
                <a:latin typeface="Oswald"/>
                <a:ea typeface="Oswald"/>
                <a:cs typeface="Oswald"/>
                <a:sym typeface="Oswald"/>
              </a:rPr>
              <a:t>Helps students </a:t>
            </a:r>
            <a:r>
              <a:rPr b="1" lang="en-US" sz="2000">
                <a:latin typeface="Oswald"/>
                <a:ea typeface="Oswald"/>
                <a:cs typeface="Oswald"/>
                <a:sym typeface="Oswald"/>
              </a:rPr>
              <a:t>express themselves freely</a:t>
            </a:r>
            <a:endParaRPr b="1" sz="20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4721786" y="1565625"/>
            <a:ext cx="3000000" cy="7527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  <a:highlight>
                  <a:srgbClr val="EA9999"/>
                </a:highlight>
              </a:rPr>
              <a:t>🔹 Social Benefits</a:t>
            </a:r>
            <a:endParaRPr b="1" sz="2300">
              <a:solidFill>
                <a:schemeClr val="dk1"/>
              </a:solidFill>
              <a:highlight>
                <a:srgbClr val="EA9999"/>
              </a:highlight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8510476" y="1562575"/>
            <a:ext cx="3298500" cy="7527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  <a:highlight>
                  <a:srgbClr val="EA9999"/>
                </a:highlight>
              </a:rPr>
              <a:t>🔹 </a:t>
            </a:r>
            <a:r>
              <a:rPr b="1" lang="en-US" sz="2100">
                <a:highlight>
                  <a:srgbClr val="EA9999"/>
                </a:highlight>
                <a:latin typeface="Oswald"/>
                <a:ea typeface="Oswald"/>
                <a:cs typeface="Oswald"/>
                <a:sym typeface="Oswald"/>
              </a:rPr>
              <a:t>Technological Benefits</a:t>
            </a:r>
            <a:endParaRPr b="1" sz="2100">
              <a:highlight>
                <a:srgbClr val="EA9999"/>
              </a:highlight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609600" y="1629675"/>
            <a:ext cx="3298500" cy="6888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  <a:highlight>
                  <a:srgbClr val="EA9999"/>
                </a:highlight>
              </a:rPr>
              <a:t>🔹 Impact on Target Audience</a:t>
            </a:r>
            <a:endParaRPr b="1" sz="1900">
              <a:solidFill>
                <a:schemeClr val="dk1"/>
              </a:solidFill>
              <a:highlight>
                <a:srgbClr val="EA9999"/>
              </a:highlight>
            </a:endParaRPr>
          </a:p>
        </p:txBody>
      </p:sp>
      <p:pic>
        <p:nvPicPr>
          <p:cNvPr id="160" name="Google Shape;160;p17" title="ChatGPT Image Nov 30, 2025, 02_04_45 PM.png"/>
          <p:cNvPicPr preferRelativeResize="0"/>
          <p:nvPr/>
        </p:nvPicPr>
        <p:blipFill rotWithShape="1">
          <a:blip r:embed="rId4">
            <a:alphaModFix/>
          </a:blip>
          <a:srcRect b="13303" l="14916" r="13746" t="12949"/>
          <a:stretch/>
        </p:blipFill>
        <p:spPr>
          <a:xfrm>
            <a:off x="350425" y="111600"/>
            <a:ext cx="1174500" cy="1213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sng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 u="sng"/>
          </a:p>
        </p:txBody>
      </p:sp>
      <p:sp>
        <p:nvSpPr>
          <p:cNvPr id="168" name="Google Shape;168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2157" y="168387"/>
            <a:ext cx="1390070" cy="139419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269825" y="1562575"/>
            <a:ext cx="55914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60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00"/>
              <a:buAutoNum type="arabicPeriod"/>
            </a:pPr>
            <a:br>
              <a:rPr lang="en-US" sz="2200"/>
            </a:br>
            <a:r>
              <a:rPr lang="en-US" sz="2200">
                <a:solidFill>
                  <a:schemeClr val="dk1"/>
                </a:solidFill>
              </a:rPr>
              <a:t>1. WHO, "Deafness and Hearing Loss",</a:t>
            </a:r>
            <a:r>
              <a:rPr lang="en-US" sz="22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br>
              <a:rPr lang="en-US" sz="22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lang="en-US" sz="22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(</a:t>
            </a:r>
            <a:r>
              <a:rPr lang="en-US" sz="2200" u="sng">
                <a:solidFill>
                  <a:schemeClr val="hlink"/>
                </a:solidFill>
                <a:hlinkClick r:id="rId7"/>
              </a:rPr>
              <a:t>https://www.who.int/news-room/fact-sheets/detail/deafness-and-hearing-loss</a:t>
            </a:r>
            <a:r>
              <a:rPr lang="en-US" sz="2200" u="sng">
                <a:solidFill>
                  <a:schemeClr val="hlink"/>
                </a:solidFill>
              </a:rPr>
              <a:t> )</a:t>
            </a:r>
            <a:endParaRPr sz="2200" u="sng">
              <a:solidFill>
                <a:schemeClr val="hlink"/>
              </a:solidFill>
            </a:endParaRPr>
          </a:p>
          <a:p>
            <a:pPr indent="-260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AutoNum type="arabicPeriod"/>
            </a:pPr>
            <a:r>
              <a:rPr lang="en-US" sz="2200">
                <a:solidFill>
                  <a:schemeClr val="dk1"/>
                </a:solidFill>
              </a:rPr>
              <a:t>2. </a:t>
            </a:r>
            <a:r>
              <a:rPr lang="en-US" sz="2200">
                <a:solidFill>
                  <a:schemeClr val="dk1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Indian Sign Language Research and Training Centre</a:t>
            </a:r>
            <a:r>
              <a:rPr lang="en-US" sz="22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br>
              <a:rPr lang="en-US" sz="2200">
                <a:solidFill>
                  <a:schemeClr val="dk1"/>
                </a:solidFill>
              </a:rPr>
            </a:br>
            <a:r>
              <a:rPr lang="en-US" sz="2200">
                <a:solidFill>
                  <a:schemeClr val="dk1"/>
                </a:solidFill>
              </a:rPr>
              <a:t>( </a:t>
            </a:r>
            <a:r>
              <a:rPr lang="en-US" sz="2200" u="sng">
                <a:solidFill>
                  <a:schemeClr val="hlink"/>
                </a:solidFill>
                <a:hlinkClick r:id="rId10"/>
              </a:rPr>
              <a:t>https://islrtc.nic.in/</a:t>
            </a:r>
            <a:r>
              <a:rPr lang="en-US" sz="2200">
                <a:solidFill>
                  <a:schemeClr val="dk1"/>
                </a:solidFill>
              </a:rPr>
              <a:t> )</a:t>
            </a:r>
            <a:endParaRPr sz="2200">
              <a:solidFill>
                <a:schemeClr val="dk1"/>
              </a:solidFill>
            </a:endParaRPr>
          </a:p>
          <a:p>
            <a:pPr indent="-260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AutoNum type="arabicPeriod"/>
            </a:pPr>
            <a:r>
              <a:rPr lang="en-US" sz="2200">
                <a:solidFill>
                  <a:schemeClr val="dk1"/>
                </a:solidFill>
              </a:rPr>
              <a:t>3. World Federation of the Deaf </a:t>
            </a:r>
            <a:br>
              <a:rPr lang="en-US" sz="2200">
                <a:solidFill>
                  <a:schemeClr val="dk1"/>
                </a:solidFill>
              </a:rPr>
            </a:br>
            <a:r>
              <a:rPr lang="en-US" sz="2200">
                <a:solidFill>
                  <a:schemeClr val="dk1"/>
                </a:solidFill>
              </a:rPr>
              <a:t>(</a:t>
            </a:r>
            <a:r>
              <a:rPr lang="en-US" sz="2200" u="sng">
                <a:solidFill>
                  <a:schemeClr val="hlink"/>
                </a:solidFill>
                <a:hlinkClick r:id="rId11"/>
              </a:rPr>
              <a:t>https://wfdeaf.org/unesco-1880/</a:t>
            </a:r>
            <a:r>
              <a:rPr lang="en-US" sz="2200" u="sng">
                <a:solidFill>
                  <a:schemeClr val="hlink"/>
                </a:solidFill>
              </a:rPr>
              <a:t> </a:t>
            </a:r>
            <a:r>
              <a:rPr lang="en-US" sz="2200">
                <a:solidFill>
                  <a:schemeClr val="dk1"/>
                </a:solidFill>
              </a:rPr>
              <a:t>)</a:t>
            </a:r>
            <a:endParaRPr sz="800"/>
          </a:p>
        </p:txBody>
      </p:sp>
      <p:sp>
        <p:nvSpPr>
          <p:cNvPr id="171" name="Google Shape;171;p18"/>
          <p:cNvSpPr txBox="1"/>
          <p:nvPr/>
        </p:nvSpPr>
        <p:spPr>
          <a:xfrm>
            <a:off x="5861225" y="1562563"/>
            <a:ext cx="6298200" cy="4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60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00"/>
              <a:buAutoNum type="arabicPeriod"/>
            </a:pPr>
            <a:br>
              <a:rPr lang="en-US" sz="2200">
                <a:solidFill>
                  <a:schemeClr val="dk1"/>
                </a:solidFill>
              </a:rPr>
            </a:br>
            <a:r>
              <a:rPr lang="en-US" sz="2200">
                <a:solidFill>
                  <a:schemeClr val="dk1"/>
                </a:solidFill>
              </a:rPr>
              <a:t>1</a:t>
            </a:r>
            <a:r>
              <a:rPr lang="en-US" sz="2200">
                <a:solidFill>
                  <a:schemeClr val="dk1"/>
                </a:solidFill>
              </a:rPr>
              <a:t>. Technical Foundation for Gesture Tracking Google AI</a:t>
            </a:r>
            <a:endParaRPr sz="1100">
              <a:solidFill>
                <a:schemeClr val="dk1"/>
              </a:solidFill>
            </a:endParaRPr>
          </a:p>
          <a:p>
            <a:pPr indent="-260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AutoNum type="arabicPeriod"/>
            </a:pPr>
            <a:r>
              <a:rPr lang="en-US" sz="2200">
                <a:solidFill>
                  <a:schemeClr val="dk1"/>
                </a:solidFill>
              </a:rPr>
              <a:t>(</a:t>
            </a:r>
            <a:r>
              <a:rPr lang="en-US" sz="2200" u="sng">
                <a:solidFill>
                  <a:schemeClr val="hlink"/>
                </a:solidFill>
                <a:hlinkClick r:id="rId12"/>
              </a:rPr>
              <a:t>https://developers.google.com/mediapipe/solutions/vision/hand_landmarker</a:t>
            </a:r>
            <a:r>
              <a:rPr lang="en-US" sz="2200">
                <a:solidFill>
                  <a:schemeClr val="dk1"/>
                </a:solidFill>
              </a:rPr>
              <a:t>)</a:t>
            </a:r>
            <a:endParaRPr sz="22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lang="en-US" sz="2200">
                <a:solidFill>
                  <a:schemeClr val="dk1"/>
                </a:solidFill>
              </a:rPr>
              <a:t>2. Web Speech API (MDN),</a:t>
            </a:r>
            <a:r>
              <a:rPr lang="en-US" sz="2200">
                <a:solidFill>
                  <a:schemeClr val="dk1"/>
                </a:solidFill>
                <a:uFill>
                  <a:noFill/>
                </a:uFill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(</a:t>
            </a:r>
            <a:r>
              <a:rPr lang="en-US" sz="2200" u="sng">
                <a:solidFill>
                  <a:schemeClr val="hlink"/>
                </a:solidFill>
                <a:hlinkClick r:id="rId14"/>
              </a:rPr>
              <a:t>https://developer.mozilla.org/en-US/docs/Web/API/Web_Speech_API</a:t>
            </a:r>
            <a:r>
              <a:rPr lang="en-US" sz="2200"/>
              <a:t> )</a:t>
            </a:r>
            <a:endParaRPr sz="22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/>
              <a:t>3. Google Teachable Machine</a:t>
            </a:r>
            <a:br>
              <a:rPr lang="en-US" sz="2200"/>
            </a:br>
            <a:r>
              <a:rPr lang="en-US" sz="2200"/>
              <a:t>(</a:t>
            </a:r>
            <a:r>
              <a:rPr lang="en-US" sz="2200" u="sng">
                <a:solidFill>
                  <a:schemeClr val="hlink"/>
                </a:solidFill>
                <a:hlinkClick r:id="rId15"/>
              </a:rPr>
              <a:t>https://teachablemachine.withgoogle.com/</a:t>
            </a:r>
            <a:r>
              <a:rPr lang="en-US" sz="2200">
                <a:solidFill>
                  <a:schemeClr val="dk1"/>
                </a:solidFill>
              </a:rPr>
              <a:t> )</a:t>
            </a:r>
            <a:endParaRPr sz="800"/>
          </a:p>
        </p:txBody>
      </p:sp>
      <p:sp>
        <p:nvSpPr>
          <p:cNvPr id="172" name="Google Shape;172;p18"/>
          <p:cNvSpPr/>
          <p:nvPr/>
        </p:nvSpPr>
        <p:spPr>
          <a:xfrm>
            <a:off x="727850" y="1448025"/>
            <a:ext cx="3262200" cy="5034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highlight>
                  <a:srgbClr val="EA9999"/>
                </a:highlight>
              </a:rPr>
              <a:t>🔹References </a:t>
            </a:r>
            <a:endParaRPr>
              <a:highlight>
                <a:srgbClr val="EA9999"/>
              </a:highlight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6483925" y="1379025"/>
            <a:ext cx="3581100" cy="5034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highlight>
                  <a:srgbClr val="EA9999"/>
                </a:highlight>
              </a:rPr>
              <a:t>🔹Research Tools </a:t>
            </a:r>
            <a:endParaRPr>
              <a:highlight>
                <a:srgbClr val="EA9999"/>
              </a:highlight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74" name="Google Shape;174;p18" title="ChatGPT Image Nov 30, 2025, 02_04_45 PM.png"/>
          <p:cNvPicPr preferRelativeResize="0"/>
          <p:nvPr/>
        </p:nvPicPr>
        <p:blipFill rotWithShape="1">
          <a:blip r:embed="rId16">
            <a:alphaModFix/>
          </a:blip>
          <a:srcRect b="13303" l="14916" r="13746" t="12949"/>
          <a:stretch/>
        </p:blipFill>
        <p:spPr>
          <a:xfrm>
            <a:off x="350425" y="111600"/>
            <a:ext cx="1174500" cy="1213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0000FF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